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deadlock: mutual exclusion, hold and wait, no preemption, circular wait.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come from the example data loaded in the web frontend. Replace or add screenshots from your own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11480"/>
            <a:ext cx="201168" cy="201168"/>
          </a:xfrm>
          <a:prstGeom prst="rect">
            <a:avLst/>
          </a:prstGeom>
          <a:solidFill>
            <a:srgbClr val="E2A9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Deadlock Detection and Recovery Simulator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ER">
    <p:bg>
      <p:bgPr>
        <a:solidFill>
          <a:srgbClr val="0F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cess motif"/>
          <p:cNvSpPr/>
          <p:nvPr/>
        </p:nvSpPr>
        <p:spPr>
          <a:xfrm>
            <a:off x="6035040" y="82296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resource motif"/>
          <p:cNvSpPr/>
          <p:nvPr/>
        </p:nvSpPr>
        <p:spPr>
          <a:xfrm>
            <a:off x="7498080" y="2834640"/>
            <a:ext cx="1005840" cy="1005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wait edge"/>
          <p:cNvSpPr/>
          <p:nvPr/>
        </p:nvSpPr>
        <p:spPr>
          <a:xfrm>
            <a:off x="6537960" y="1828800"/>
            <a:ext cx="1463040" cy="100584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Deadlock Detection and Recovery Simulator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Operating Systems and Systems Programming (25CS2104E)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Concepts: processes and process control (CO-2), deadlocks and concurrency hazards (CO-6)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Problem statement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Deadlock Detection and Recovery Simulator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Operating Systems and Systems Programming (25CS2104E)</a:t>
            </a:r>
            <a:endParaRPr lang="en-US" sz="1200" dirty="0"/>
          </a:p>
        </p:txBody>
      </p:sp>
      <p:sp>
        <p:nvSpPr>
          <p:cNvPr id="5" name="problem card"/>
          <p:cNvSpPr/>
          <p:nvPr/>
        </p:nvSpPr>
        <p:spPr>
          <a:xfrm>
            <a:off x="457200" y="1737360"/>
            <a:ext cx="4937760" cy="2834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ard edge"/>
          <p:cNvSpPr/>
          <p:nvPr/>
        </p:nvSpPr>
        <p:spPr>
          <a:xfrm>
            <a:off x="457200" y="1737360"/>
            <a:ext cx="64008" cy="2834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Processes hold resources while waiting for others, so a circular wait can freeze them forever.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Deadlocks are hard to see in a running system and hard to teach from a textbook.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task: take any allocation and request state, find the deadlocked processes, and recover safely.</a:t>
            </a:r>
            <a:endParaRPr lang="en-US" sz="1500" dirty="0"/>
          </a:p>
        </p:txBody>
      </p:sp>
      <p:sp>
        <p:nvSpPr>
          <p:cNvPr id="8" name="goal card"/>
          <p:cNvSpPr/>
          <p:nvPr/>
        </p:nvSpPr>
        <p:spPr>
          <a:xfrm>
            <a:off x="5669280" y="1737360"/>
            <a:ext cx="3017520" cy="2834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ard edge"/>
          <p:cNvSpPr/>
          <p:nvPr/>
        </p:nvSpPr>
        <p:spPr>
          <a:xfrm>
            <a:off x="5669280" y="1737360"/>
            <a:ext cx="64008" cy="2834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Goal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28600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simulator that detects deadlock with multiple instances per resource, recovers by terminating processes, and verifies the outcome. Nothing real is touched.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System design</a:t>
            </a:r>
            <a:endParaRPr lang="en-US" dirty="0"/>
          </a:p>
        </p:txBody>
      </p:sp>
      <p:sp>
        <p:nvSpPr>
          <p:cNvPr id="3" name="step Configure"/>
          <p:cNvSpPr/>
          <p:nvPr/>
        </p:nvSpPr>
        <p:spPr>
          <a:xfrm>
            <a:off x="457200" y="1143000"/>
            <a:ext cx="13716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Configure</a:t>
            </a:r>
            <a:endParaRPr lang="en-US" sz="1500" dirty="0"/>
          </a:p>
        </p:txBody>
      </p:sp>
      <p:sp>
        <p:nvSpPr>
          <p:cNvPr id="5" name="arrow"/>
          <p:cNvSpPr/>
          <p:nvPr/>
        </p:nvSpPr>
        <p:spPr>
          <a:xfrm>
            <a:off x="1874520" y="1399032"/>
            <a:ext cx="228600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Enter data"/>
          <p:cNvSpPr/>
          <p:nvPr/>
        </p:nvSpPr>
        <p:spPr>
          <a:xfrm>
            <a:off x="2139696" y="1143000"/>
            <a:ext cx="13716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39696" y="1143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Enter data</a:t>
            </a:r>
            <a:endParaRPr lang="en-US" sz="1500" dirty="0"/>
          </a:p>
        </p:txBody>
      </p:sp>
      <p:sp>
        <p:nvSpPr>
          <p:cNvPr id="8" name="arrow"/>
          <p:cNvSpPr/>
          <p:nvPr/>
        </p:nvSpPr>
        <p:spPr>
          <a:xfrm>
            <a:off x="3557016" y="1399032"/>
            <a:ext cx="228600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tep Detect"/>
          <p:cNvSpPr/>
          <p:nvPr/>
        </p:nvSpPr>
        <p:spPr>
          <a:xfrm>
            <a:off x="3822192" y="1143000"/>
            <a:ext cx="137160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1143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Detect</a:t>
            </a:r>
            <a:endParaRPr lang="en-US" sz="1500" dirty="0"/>
          </a:p>
        </p:txBody>
      </p:sp>
      <p:sp>
        <p:nvSpPr>
          <p:cNvPr id="11" name="arrow"/>
          <p:cNvSpPr/>
          <p:nvPr/>
        </p:nvSpPr>
        <p:spPr>
          <a:xfrm>
            <a:off x="5239512" y="1399032"/>
            <a:ext cx="228600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step Recover"/>
          <p:cNvSpPr/>
          <p:nvPr/>
        </p:nvSpPr>
        <p:spPr>
          <a:xfrm>
            <a:off x="5504688" y="1143000"/>
            <a:ext cx="137160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04688" y="1143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Recover</a:t>
            </a:r>
            <a:endParaRPr lang="en-US" sz="1500" dirty="0"/>
          </a:p>
        </p:txBody>
      </p:sp>
      <p:sp>
        <p:nvSpPr>
          <p:cNvPr id="14" name="arrow"/>
          <p:cNvSpPr/>
          <p:nvPr/>
        </p:nvSpPr>
        <p:spPr>
          <a:xfrm>
            <a:off x="6922008" y="1399032"/>
            <a:ext cx="228600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tep Verify"/>
          <p:cNvSpPr/>
          <p:nvPr/>
        </p:nvSpPr>
        <p:spPr>
          <a:xfrm>
            <a:off x="7187184" y="1143000"/>
            <a:ext cx="1371600" cy="73152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87184" y="1143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Verify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model</a:t>
            </a:r>
            <a:endParaRPr lang="en-US" sz="1600" dirty="0"/>
          </a:p>
        </p:txBody>
      </p:sp>
      <p:sp>
        <p:nvSpPr>
          <p:cNvPr id="18" name="model card"/>
          <p:cNvSpPr/>
          <p:nvPr/>
        </p:nvSpPr>
        <p:spPr>
          <a:xfrm>
            <a:off x="457200" y="2560320"/>
            <a:ext cx="402336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card edge"/>
          <p:cNvSpPr/>
          <p:nvPr/>
        </p:nvSpPr>
        <p:spPr>
          <a:xfrm>
            <a:off x="457200" y="2560320"/>
            <a:ext cx="64008" cy="822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Total[j]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instances of resource j that exist</a:t>
            </a:r>
            <a:endParaRPr lang="en-US" sz="1200" dirty="0"/>
          </a:p>
        </p:txBody>
      </p:sp>
      <p:sp>
        <p:nvSpPr>
          <p:cNvPr id="22" name="model card"/>
          <p:cNvSpPr/>
          <p:nvPr/>
        </p:nvSpPr>
        <p:spPr>
          <a:xfrm>
            <a:off x="4663440" y="2560320"/>
            <a:ext cx="402336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card edge"/>
          <p:cNvSpPr/>
          <p:nvPr/>
        </p:nvSpPr>
        <p:spPr>
          <a:xfrm>
            <a:off x="4663440" y="2560320"/>
            <a:ext cx="64008" cy="822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Allocation[i][j]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held by process i</a:t>
            </a:r>
            <a:endParaRPr lang="en-US" sz="1200" dirty="0"/>
          </a:p>
        </p:txBody>
      </p:sp>
      <p:sp>
        <p:nvSpPr>
          <p:cNvPr id="26" name="model card"/>
          <p:cNvSpPr/>
          <p:nvPr/>
        </p:nvSpPr>
        <p:spPr>
          <a:xfrm>
            <a:off x="457200" y="3520440"/>
            <a:ext cx="402336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card edge"/>
          <p:cNvSpPr/>
          <p:nvPr/>
        </p:nvSpPr>
        <p:spPr>
          <a:xfrm>
            <a:off x="457200" y="3520440"/>
            <a:ext cx="64008" cy="822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Request[i][j]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additional instances process i waits for</a:t>
            </a:r>
            <a:endParaRPr lang="en-US" sz="1200" dirty="0"/>
          </a:p>
        </p:txBody>
      </p:sp>
      <p:sp>
        <p:nvSpPr>
          <p:cNvPr id="30" name="model card"/>
          <p:cNvSpPr/>
          <p:nvPr/>
        </p:nvSpPr>
        <p:spPr>
          <a:xfrm>
            <a:off x="4663440" y="3520440"/>
            <a:ext cx="402336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card edge"/>
          <p:cNvSpPr/>
          <p:nvPr/>
        </p:nvSpPr>
        <p:spPr>
          <a:xfrm>
            <a:off x="4663440" y="3520440"/>
            <a:ext cx="64008" cy="822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9204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Available[j]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8920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Total minus all allocations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Detection works on local copies and never changes the system. Recovery is the only step that modifies state.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Implementation approach</a:t>
            </a:r>
            <a:endParaRPr lang="en-US" dirty="0"/>
          </a:p>
        </p:txBody>
      </p:sp>
      <p:sp>
        <p:nvSpPr>
          <p:cNvPr id="3" name="detect card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ard edge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Detection: Work / Finish method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459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Work starts as Available.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Finish is true for terminated processes and ones holding nothing.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Find an unfinished process whose Request fits in Work; add its Allocation to Work and mark it finished.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Repeat until none is left. Every unfinished process is deadlocked.</a:t>
            </a:r>
            <a:endParaRPr lang="en-US" sz="1300" dirty="0"/>
          </a:p>
        </p:txBody>
      </p:sp>
      <p:sp>
        <p:nvSpPr>
          <p:cNvPr id="7" name="recover card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rd edge"/>
          <p:cNvSpPr/>
          <p:nvPr/>
        </p:nvSpPr>
        <p:spPr>
          <a:xfrm>
            <a:off x="4754880" y="1097280"/>
            <a:ext cx="64008" cy="3474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Recovery: process termination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64592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Strategy A: terminate one chosen deadlocked process.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Strategy B: terminate all deadlocked processes, after a confirmation.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Termination releases Allocation, deletes the Request row, and recomputes Available as Total minus Allocation.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Detection runs again to verify the real outcome.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Technologies used</a:t>
            </a:r>
            <a:endParaRPr lang="en-US" dirty="0"/>
          </a:p>
        </p:txBody>
      </p:sp>
      <p:sp>
        <p:nvSpPr>
          <p:cNvPr id="3" name="c card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ard edge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Simulation engine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C11, standard library only (stdio, stdlib, string, ctype, errno)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Command-line menu with validated input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Compiled with gcc -Wall -Wextra -Wpedantic -O2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on Linux, Ubuntu or WSL</a:t>
            </a:r>
            <a:endParaRPr lang="en-US" sz="1400" dirty="0"/>
          </a:p>
        </p:txBody>
      </p:sp>
      <p:sp>
        <p:nvSpPr>
          <p:cNvPr id="7" name="web card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rd edge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Web frontend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HTML, CSS and JavaScript in a single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Work / Finish algorithm ported to JavaScript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SVG resource graph with deadlocked processes in 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Editable matrices with the same input checks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Results</a:t>
            </a:r>
            <a:endParaRPr lang="en-US" dirty="0"/>
          </a:p>
        </p:txBody>
      </p:sp>
      <p:sp>
        <p:nvSpPr>
          <p:cNvPr id="3" name="result card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ard edge"/>
          <p:cNvSpPr/>
          <p:nvPr/>
        </p:nvSpPr>
        <p:spPr>
          <a:xfrm>
            <a:off x="457200" y="1097280"/>
            <a:ext cx="64008" cy="15544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Safe system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deadlock. Completion order P0, P1; P2 holds nothing.</a:t>
            </a:r>
            <a:endParaRPr lang="en-US" sz="1300" dirty="0"/>
          </a:p>
        </p:txBody>
      </p:sp>
      <p:sp>
        <p:nvSpPr>
          <p:cNvPr id="7" name="result card"/>
          <p:cNvSpPr/>
          <p:nvPr/>
        </p:nvSpPr>
        <p:spPr>
          <a:xfrm>
            <a:off x="4663440" y="1097280"/>
            <a:ext cx="4023360" cy="1554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rd edge"/>
          <p:cNvSpPr/>
          <p:nvPr/>
        </p:nvSpPr>
        <p:spPr>
          <a:xfrm>
            <a:off x="4663440" y="1097280"/>
            <a:ext cx="64008" cy="1554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Two-process circular wait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00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P0 and P1 are both reported deadlocked.</a:t>
            </a:r>
            <a:endParaRPr lang="en-US" sz="1300" dirty="0"/>
          </a:p>
        </p:txBody>
      </p:sp>
      <p:sp>
        <p:nvSpPr>
          <p:cNvPr id="11" name="result card"/>
          <p:cNvSpPr/>
          <p:nvPr/>
        </p:nvSpPr>
        <p:spPr>
          <a:xfrm>
            <a:off x="457200" y="2834640"/>
            <a:ext cx="4023360" cy="1554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card edge"/>
          <p:cNvSpPr/>
          <p:nvPr/>
        </p:nvSpPr>
        <p:spPr>
          <a:xfrm>
            <a:off x="457200" y="2834640"/>
            <a:ext cx="64008" cy="1554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Three-process cycle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337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P0, P1, P2 deadlocked; P3 holds nothing and is not blamed.</a:t>
            </a:r>
            <a:endParaRPr lang="en-US" sz="1300" dirty="0"/>
          </a:p>
        </p:txBody>
      </p:sp>
      <p:sp>
        <p:nvSpPr>
          <p:cNvPr id="15" name="result card"/>
          <p:cNvSpPr/>
          <p:nvPr/>
        </p:nvSpPr>
        <p:spPr>
          <a:xfrm>
            <a:off x="4663440" y="2834640"/>
            <a:ext cx="4023360" cy="1554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card edge"/>
          <p:cNvSpPr/>
          <p:nvPr/>
        </p:nvSpPr>
        <p:spPr>
          <a:xfrm>
            <a:off x="4663440" y="2834640"/>
            <a:ext cx="64008" cy="1554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Two separate cycles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337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Terminating P0 frees P1, but P2 and P3 stay deadlocked. Terminating all deadlocked processes verifies as deadlock-free.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Impact</a:t>
            </a:r>
            <a:endParaRPr lang="en-US" dirty="0"/>
          </a:p>
        </p:txBody>
      </p:sp>
      <p:sp>
        <p:nvSpPr>
          <p:cNvPr id="3" name="impact card"/>
          <p:cNvSpPr/>
          <p:nvPr/>
        </p:nvSpPr>
        <p:spPr>
          <a:xfrm>
            <a:off x="457200" y="1188720"/>
            <a:ext cx="265176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ard edge"/>
          <p:cNvSpPr/>
          <p:nvPr/>
        </p:nvSpPr>
        <p:spPr>
          <a:xfrm>
            <a:off x="457200" y="1188720"/>
            <a:ext cx="64008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See 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resource graph turns an abstract matrix problem into something students can read at a glance.</a:t>
            </a:r>
            <a:endParaRPr lang="en-US" sz="1400" dirty="0"/>
          </a:p>
        </p:txBody>
      </p:sp>
      <p:sp>
        <p:nvSpPr>
          <p:cNvPr id="7" name="impact card"/>
          <p:cNvSpPr/>
          <p:nvPr/>
        </p:nvSpPr>
        <p:spPr>
          <a:xfrm>
            <a:off x="3291840" y="1188720"/>
            <a:ext cx="265176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rd edge"/>
          <p:cNvSpPr/>
          <p:nvPr/>
        </p:nvSpPr>
        <p:spPr>
          <a:xfrm>
            <a:off x="3291840" y="1188720"/>
            <a:ext cx="64008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Try it safely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8745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Recovery is simulated, so no real Linux process is ever terminated.</a:t>
            </a:r>
            <a:endParaRPr lang="en-US" sz="1400" dirty="0"/>
          </a:p>
        </p:txBody>
      </p:sp>
      <p:sp>
        <p:nvSpPr>
          <p:cNvPr id="11" name="impact card"/>
          <p:cNvSpPr/>
          <p:nvPr/>
        </p:nvSpPr>
        <p:spPr>
          <a:xfrm>
            <a:off x="6126480" y="1188720"/>
            <a:ext cx="265176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card edge"/>
          <p:cNvSpPr/>
          <p:nvPr/>
        </p:nvSpPr>
        <p:spPr>
          <a:xfrm>
            <a:off x="6126480" y="1188720"/>
            <a:ext cx="64008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Trust it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8745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recovery is verified by running detection again, so outcomes are never assumed.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Covers course outcomes CO-2 (process control) and CO-6 (deadlocks and concurrency hazards).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adlock Dark">
  <a:themeElements>
    <a:clrScheme name="Deadlock Dark">
      <a:dk1>
        <a:srgbClr val="E2EAF0"/>
      </a:dk1>
      <a:lt1>
        <a:srgbClr val="172531"/>
      </a:lt1>
      <a:dk2>
        <a:srgbClr val="F4F8FB"/>
      </a:dk2>
      <a:lt2>
        <a:srgbClr val="0F1A22"/>
      </a:lt2>
      <a:accent1>
        <a:srgbClr val="6BB6D9"/>
      </a:accent1>
      <a:accent2>
        <a:srgbClr val="E2A93F"/>
      </a:accent2>
      <a:accent3>
        <a:srgbClr val="FF8A80"/>
      </a:accent3>
      <a:accent4>
        <a:srgbClr val="5FCB9F"/>
      </a:accent4>
      <a:accent5>
        <a:srgbClr val="8DA1B1"/>
      </a:accent5>
      <a:accent6>
        <a:srgbClr val="2B3E4E"/>
      </a:accent6>
      <a:hlink>
        <a:srgbClr val="6BB6D9"/>
      </a:hlink>
      <a:folHlink>
        <a:srgbClr val="8DA1B1"/>
      </a:folHlink>
    </a:clrScheme>
    <a:fontScheme name="Deadlock Dark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 Detection and Recovery Simulator</dc:title>
  <dc:subject>PptxGenJS Presentation</dc:subject>
  <dc:creator>PptxGenJS</dc:creator>
  <cp:lastModifiedBy>PptxGenJS</cp:lastModifiedBy>
  <cp:revision>1</cp:revision>
  <dcterms:created xsi:type="dcterms:W3CDTF">2026-10-17T05:00:14Z</dcterms:created>
  <dcterms:modified xsi:type="dcterms:W3CDTF">2026-10-17T05:00:14Z</dcterms:modified>
</cp:coreProperties>
</file>